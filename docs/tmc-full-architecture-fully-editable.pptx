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7C30-0E52-C0FC-3250-23B5B0C8A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91246-ECC7-DCB5-39D8-B6CC7436E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C01CC-B636-D7DF-00AF-7E967A11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25CC2-20F8-247B-63DF-08D57D2B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215CD-61BE-7DC6-BC87-20DB1AE56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490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B5EC-4EFF-C38B-B0E8-72C9D993F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DC69A-3AE4-458A-B17B-49C76403A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C1E71-330B-FCA6-AD6D-B5FAAEB1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9D836-F494-7BF8-00A6-7709EA76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F03FD-99DC-D527-65E3-2A569BA8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8198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A1A1-F56E-6000-1E73-E67A2D49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350BF-06BC-8767-D63D-2B047F9C6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254E-733D-438C-E5E8-72B521D1D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495EF-523A-E6D2-AB7A-900B6585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BC6E8-9C80-9B2E-7F81-3BB09271A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0429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5171-E583-C7F8-A980-EC3F0483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B6E50-CCB8-D629-640A-00E8CAEA1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1993A-19FC-4114-5BA5-CFC62F16F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0F5D8-D51B-78B4-026D-266A90CF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53730-79CE-3FBD-E614-2E29E4EA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BC5EB-A1BB-6CD7-6A0A-FC20CC5E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297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7DEA-7907-C8A9-9321-F7417937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7FC9F-FC61-FA28-1E10-7D1C5A636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88E5D-CD31-E5F2-88CB-F441B1C2D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60E88-27B0-CCBB-13E5-46AB5132E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66237-D51A-628A-FD9B-78E12210B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CA505-7769-A611-3FD4-976875CF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EA309-D8DC-0912-AA5A-9B6C6FE9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6025D-277C-F58A-2ABD-A6E49894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4290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8BDD-60C5-4BFD-0080-91386AD4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BBECB7-8FA7-4973-4A59-F1C77FCC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ACC82-1E3C-5A3C-9A73-07C852FE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ABC98-5BE6-70A2-9CF8-8F695E1E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197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31468-3AA5-0AF5-71DA-975AEE1C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6AB07-FB9D-EB51-035D-88BB8A5B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C8506-8C9C-75B0-E99A-78BFF642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46712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39B7-FE9E-0FC6-563D-E9CD383B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93082-3F8B-B224-8422-A926771B5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941F6-CB6F-5C3D-C99A-BEAE66EEB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91646-B8ED-6CD9-FB4C-7179A83B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49723-FA74-C5B6-B4B8-4C939CA9A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E46C-AE6E-A518-5D77-404CB1EF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3917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B2EF-10DB-BA8D-9D66-7E3CFB83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24C26-4C44-A49A-846C-8C5B32E58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4CE29-5E78-53B4-1071-58855F5FA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867D-E29D-34BD-8E47-57CEF7CEF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A7B2B-01F8-9A1C-F070-486A7C74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7AF1B-E01E-60D9-2DA9-D49C7D25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50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499C-6F15-CC81-4856-07E1A8CB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F37CE-4552-B7FD-12B7-9CB811C89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16812-14BC-348A-6406-238B1BF5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2562E-295F-3E5C-01AB-EFECECB2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85492-F7CD-A3E8-1D02-1C0B4338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30289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46091C-47C6-541F-EFC5-D97E7F5DD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6A2F2-F0BF-AC96-335B-02A50FD78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077A3-D7D1-B0A3-3CC2-CD8C9E93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04FB0-B502-1AF8-557D-AFA4C660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BB60C-6F0C-0446-710F-BE9DFB81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36132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610A75-C2E8-9A2C-5A44-3F8750359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C1084-87D3-751E-03AC-97F53953E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A96C0-3AB4-051F-E44D-3CF45FE2D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C0819-7C6B-476C-8DD3-E56F79D9B0F2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4510-E4C5-545E-8114-3FAB93C14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4626E-1773-0331-353E-A5DFB8C6F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8D418-EA95-4A5C-93C2-B35FAE53CAF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40344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6912E-1C3E-D776-6B37-5319AAE41BE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1E1E1E"/>
                </a:solidFill>
              </a:rPr>
              <a:t>TMC Web System - Full Functional Architecture (Fully Editable Elements)</a:t>
            </a:r>
            <a:endParaRPr lang="sv-SE" sz="2000" b="1">
              <a:solidFill>
                <a:srgbClr val="1E1E1E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9F2C94-A38F-7808-FF89-817A350AE2E6}"/>
              </a:ext>
            </a:extLst>
          </p:cNvPr>
          <p:cNvSpPr/>
          <p:nvPr/>
        </p:nvSpPr>
        <p:spPr>
          <a:xfrm>
            <a:off x="254000" y="533400"/>
            <a:ext cx="11684000" cy="279400"/>
          </a:xfrm>
          <a:prstGeom prst="rect">
            <a:avLst/>
          </a:prstGeom>
          <a:solidFill>
            <a:srgbClr val="E6E6E6"/>
          </a:solidFill>
          <a:ln w="12700"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fr-FR" sz="1100" b="1">
                <a:solidFill>
                  <a:srgbClr val="333333"/>
                </a:solidFill>
              </a:rPr>
              <a:t>Layer 1: User Navigation &amp; Pages</a:t>
            </a:r>
            <a:endParaRPr lang="sv-SE" sz="1100" b="1">
              <a:solidFill>
                <a:srgbClr val="33333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052E4C-B0C6-37CF-9F36-7C6EE8A3FC63}"/>
              </a:ext>
            </a:extLst>
          </p:cNvPr>
          <p:cNvSpPr/>
          <p:nvPr/>
        </p:nvSpPr>
        <p:spPr>
          <a:xfrm>
            <a:off x="254000" y="1803400"/>
            <a:ext cx="11684000" cy="279400"/>
          </a:xfrm>
          <a:prstGeom prst="rect">
            <a:avLst/>
          </a:prstGeom>
          <a:solidFill>
            <a:srgbClr val="E6E6E6"/>
          </a:solidFill>
          <a:ln w="12700"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en-US" sz="1100" b="1">
                <a:solidFill>
                  <a:srgbClr val="333333"/>
                </a:solidFill>
              </a:rPr>
              <a:t>Layer 2: Feature Actions (UI Capabilities)</a:t>
            </a:r>
            <a:endParaRPr lang="sv-SE" sz="1100" b="1">
              <a:solidFill>
                <a:srgbClr val="3333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C2CADE-F421-71A6-136F-C43C85E4807B}"/>
              </a:ext>
            </a:extLst>
          </p:cNvPr>
          <p:cNvSpPr/>
          <p:nvPr/>
        </p:nvSpPr>
        <p:spPr>
          <a:xfrm>
            <a:off x="254000" y="2565400"/>
            <a:ext cx="11684000" cy="279400"/>
          </a:xfrm>
          <a:prstGeom prst="rect">
            <a:avLst/>
          </a:prstGeom>
          <a:solidFill>
            <a:srgbClr val="E6E6E6"/>
          </a:solidFill>
          <a:ln w="12700"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en-US" sz="1100" b="1">
                <a:solidFill>
                  <a:srgbClr val="333333"/>
                </a:solidFill>
              </a:rPr>
              <a:t>Layer 3: Processing &amp; Rule Engine (Backend)</a:t>
            </a:r>
            <a:endParaRPr lang="sv-SE" sz="1100" b="1">
              <a:solidFill>
                <a:srgbClr val="33333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588A62-91AE-61F1-C312-FC1D0B742F75}"/>
              </a:ext>
            </a:extLst>
          </p:cNvPr>
          <p:cNvSpPr/>
          <p:nvPr/>
        </p:nvSpPr>
        <p:spPr>
          <a:xfrm>
            <a:off x="254000" y="4089400"/>
            <a:ext cx="11684000" cy="279400"/>
          </a:xfrm>
          <a:prstGeom prst="rect">
            <a:avLst/>
          </a:prstGeom>
          <a:solidFill>
            <a:srgbClr val="E6E6E6"/>
          </a:solidFill>
          <a:ln w="12700"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100" b="1">
                <a:solidFill>
                  <a:srgbClr val="333333"/>
                </a:solidFill>
              </a:rPr>
              <a:t>Layer 4: Pipeline Calculations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82DD5-0115-CA9E-CC28-01799F4B001B}"/>
              </a:ext>
            </a:extLst>
          </p:cNvPr>
          <p:cNvSpPr/>
          <p:nvPr/>
        </p:nvSpPr>
        <p:spPr>
          <a:xfrm>
            <a:off x="254000" y="5105400"/>
            <a:ext cx="11684000" cy="279400"/>
          </a:xfrm>
          <a:prstGeom prst="rect">
            <a:avLst/>
          </a:prstGeom>
          <a:solidFill>
            <a:srgbClr val="E6E6E6"/>
          </a:solidFill>
          <a:ln w="12700"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100" b="1">
                <a:solidFill>
                  <a:srgbClr val="333333"/>
                </a:solidFill>
              </a:rPr>
              <a:t>Layer 5: Data Storage (Database)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F26850-A4CA-B65A-479F-51B562A759BE}"/>
              </a:ext>
            </a:extLst>
          </p:cNvPr>
          <p:cNvSpPr/>
          <p:nvPr/>
        </p:nvSpPr>
        <p:spPr>
          <a:xfrm>
            <a:off x="381000" y="889000"/>
            <a:ext cx="1651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Home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5468C-7F39-B97B-175B-4B22B9B7332F}"/>
              </a:ext>
            </a:extLst>
          </p:cNvPr>
          <p:cNvSpPr/>
          <p:nvPr/>
        </p:nvSpPr>
        <p:spPr>
          <a:xfrm>
            <a:off x="2159000" y="889000"/>
            <a:ext cx="2286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Master Data Entry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821B4-DFED-1C48-313B-248ED63022F8}"/>
              </a:ext>
            </a:extLst>
          </p:cNvPr>
          <p:cNvSpPr/>
          <p:nvPr/>
        </p:nvSpPr>
        <p:spPr>
          <a:xfrm>
            <a:off x="4572000" y="889000"/>
            <a:ext cx="1651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Submit Matrix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BBC212-420E-BAF1-D1A8-800CBF0150E7}"/>
              </a:ext>
            </a:extLst>
          </p:cNvPr>
          <p:cNvSpPr/>
          <p:nvPr/>
        </p:nvSpPr>
        <p:spPr>
          <a:xfrm>
            <a:off x="6350000" y="889000"/>
            <a:ext cx="1651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Upload OTH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810091-4B35-5613-EFB9-71748A44FAC1}"/>
              </a:ext>
            </a:extLst>
          </p:cNvPr>
          <p:cNvSpPr/>
          <p:nvPr/>
        </p:nvSpPr>
        <p:spPr>
          <a:xfrm>
            <a:off x="8128000" y="889000"/>
            <a:ext cx="1651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Upload CRP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45E7DB-9C59-36D3-8D68-394591CCE0BF}"/>
              </a:ext>
            </a:extLst>
          </p:cNvPr>
          <p:cNvSpPr/>
          <p:nvPr/>
        </p:nvSpPr>
        <p:spPr>
          <a:xfrm>
            <a:off x="9906000" y="889000"/>
            <a:ext cx="1905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View Pipeline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476110-062F-2A60-B013-4A6C186C916A}"/>
              </a:ext>
            </a:extLst>
          </p:cNvPr>
          <p:cNvCxnSpPr/>
          <p:nvPr/>
        </p:nvCxnSpPr>
        <p:spPr>
          <a:xfrm>
            <a:off x="2032000" y="10541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426B3A-B5DD-4A1B-7148-1E49A6979EE7}"/>
              </a:ext>
            </a:extLst>
          </p:cNvPr>
          <p:cNvCxnSpPr/>
          <p:nvPr/>
        </p:nvCxnSpPr>
        <p:spPr>
          <a:xfrm>
            <a:off x="4445000" y="10541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E30010-9FFE-0F48-AD88-7B59D62EDCDF}"/>
              </a:ext>
            </a:extLst>
          </p:cNvPr>
          <p:cNvCxnSpPr/>
          <p:nvPr/>
        </p:nvCxnSpPr>
        <p:spPr>
          <a:xfrm>
            <a:off x="6223000" y="10541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B20B61-F9DD-EB2F-5A46-F8B0FDA7AAA3}"/>
              </a:ext>
            </a:extLst>
          </p:cNvPr>
          <p:cNvCxnSpPr/>
          <p:nvPr/>
        </p:nvCxnSpPr>
        <p:spPr>
          <a:xfrm>
            <a:off x="8001000" y="10541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0BFD9F-7626-4166-3C88-C194F8149C89}"/>
              </a:ext>
            </a:extLst>
          </p:cNvPr>
          <p:cNvCxnSpPr/>
          <p:nvPr/>
        </p:nvCxnSpPr>
        <p:spPr>
          <a:xfrm>
            <a:off x="9779000" y="10541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AB31DE8-6290-B8E3-AF6B-B28F14851744}"/>
              </a:ext>
            </a:extLst>
          </p:cNvPr>
          <p:cNvSpPr/>
          <p:nvPr/>
        </p:nvSpPr>
        <p:spPr>
          <a:xfrm>
            <a:off x="381000" y="1270000"/>
            <a:ext cx="381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r>
              <a:rPr lang="sv-SE" sz="1000" b="1">
                <a:solidFill>
                  <a:srgbClr val="333333"/>
                </a:solidFill>
              </a:rPr>
              <a:t>Matrix Upload Types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9F93D9-7120-E77A-2AED-2C45090EC0E8}"/>
              </a:ext>
            </a:extLst>
          </p:cNvPr>
          <p:cNvSpPr txBox="1"/>
          <p:nvPr/>
        </p:nvSpPr>
        <p:spPr>
          <a:xfrm>
            <a:off x="457200" y="1498600"/>
            <a:ext cx="36830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900">
                <a:solidFill>
                  <a:srgbClr val="333333"/>
                </a:solidFill>
              </a:rPr>
              <a:t>- Group Country CSV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22D885-3361-9E65-B28E-5438C9ADAB2C}"/>
              </a:ext>
            </a:extLst>
          </p:cNvPr>
          <p:cNvSpPr txBox="1"/>
          <p:nvPr/>
        </p:nvSpPr>
        <p:spPr>
          <a:xfrm>
            <a:off x="457200" y="1651000"/>
            <a:ext cx="36830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900">
                <a:solidFill>
                  <a:srgbClr val="333333"/>
                </a:solidFill>
              </a:rPr>
              <a:t>- Reporter List CSV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32321A-5908-40B8-927A-1FFBC176F17D}"/>
              </a:ext>
            </a:extLst>
          </p:cNvPr>
          <p:cNvSpPr txBox="1"/>
          <p:nvPr/>
        </p:nvSpPr>
        <p:spPr>
          <a:xfrm>
            <a:off x="2286000" y="1498600"/>
            <a:ext cx="36830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900">
                <a:solidFill>
                  <a:srgbClr val="333333"/>
                </a:solidFill>
              </a:rPr>
              <a:t>- Source Matrix CSV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ED2926-D624-6C0C-9143-36231D85C06F}"/>
              </a:ext>
            </a:extLst>
          </p:cNvPr>
          <p:cNvSpPr txBox="1"/>
          <p:nvPr/>
        </p:nvSpPr>
        <p:spPr>
          <a:xfrm>
            <a:off x="2286000" y="1651000"/>
            <a:ext cx="36830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900">
                <a:solidFill>
                  <a:srgbClr val="333333"/>
                </a:solidFill>
              </a:rPr>
              <a:t>- Size Class Flag CSV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292940-2FAD-9716-4407-4C3D22D0AA56}"/>
              </a:ext>
            </a:extLst>
          </p:cNvPr>
          <p:cNvSpPr txBox="1"/>
          <p:nvPr/>
        </p:nvSpPr>
        <p:spPr>
          <a:xfrm>
            <a:off x="4127500" y="1498600"/>
            <a:ext cx="36830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900">
                <a:solidFill>
                  <a:srgbClr val="333333"/>
                </a:solidFill>
              </a:rPr>
              <a:t>- Brand Mapping CSV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AFE314-011B-9CBA-1F29-1668E908C4A2}"/>
              </a:ext>
            </a:extLst>
          </p:cNvPr>
          <p:cNvSpPr txBox="1"/>
          <p:nvPr/>
        </p:nvSpPr>
        <p:spPr>
          <a:xfrm>
            <a:off x="4127500" y="1651000"/>
            <a:ext cx="36830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900">
                <a:solidFill>
                  <a:srgbClr val="333333"/>
                </a:solidFill>
              </a:rPr>
              <a:t>- Machine Line Mapping CSV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D2D103-4170-45FF-863A-66727C31478B}"/>
              </a:ext>
            </a:extLst>
          </p:cNvPr>
          <p:cNvSpPr/>
          <p:nvPr/>
        </p:nvSpPr>
        <p:spPr>
          <a:xfrm>
            <a:off x="7620000" y="1270000"/>
            <a:ext cx="4191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r>
              <a:rPr lang="en-US" sz="900">
                <a:solidFill>
                  <a:srgbClr val="333333"/>
                </a:solidFill>
              </a:rPr>
              <a:t>Flow: Home -&gt; Submit Matrix -&gt; Upload OTH -&gt; Upload CRP -&gt; View Pipeline -&gt; P00</a:t>
            </a:r>
            <a:endParaRPr lang="sv-SE" sz="900">
              <a:solidFill>
                <a:srgbClr val="333333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FE3373-7900-8E77-409E-A3504AC0FA9C}"/>
              </a:ext>
            </a:extLst>
          </p:cNvPr>
          <p:cNvSpPr/>
          <p:nvPr/>
        </p:nvSpPr>
        <p:spPr>
          <a:xfrm>
            <a:off x="381000" y="2159000"/>
            <a:ext cx="120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800">
                <a:solidFill>
                  <a:srgbClr val="333333"/>
                </a:solidFill>
              </a:rPr>
              <a:t>Upload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72A36B-6D7B-7147-AB27-18CD6FA46F1E}"/>
              </a:ext>
            </a:extLst>
          </p:cNvPr>
          <p:cNvSpPr/>
          <p:nvPr/>
        </p:nvSpPr>
        <p:spPr>
          <a:xfrm>
            <a:off x="1651000" y="2159000"/>
            <a:ext cx="120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800">
                <a:solidFill>
                  <a:srgbClr val="333333"/>
                </a:solidFill>
              </a:rPr>
              <a:t>Show Latest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EE3987-6B5E-C8DA-EFD2-4B170195626D}"/>
              </a:ext>
            </a:extLst>
          </p:cNvPr>
          <p:cNvSpPr/>
          <p:nvPr/>
        </p:nvSpPr>
        <p:spPr>
          <a:xfrm>
            <a:off x="2921000" y="2159000"/>
            <a:ext cx="120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800">
                <a:solidFill>
                  <a:srgbClr val="333333"/>
                </a:solidFill>
              </a:rPr>
              <a:t>Download Latest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251622-C184-4BD3-8113-FAAECC1C7A0C}"/>
              </a:ext>
            </a:extLst>
          </p:cNvPr>
          <p:cNvSpPr/>
          <p:nvPr/>
        </p:nvSpPr>
        <p:spPr>
          <a:xfrm>
            <a:off x="4191000" y="2159000"/>
            <a:ext cx="120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800">
                <a:solidFill>
                  <a:srgbClr val="333333"/>
                </a:solidFill>
              </a:rPr>
              <a:t>Edit in Page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A6104E-45DE-8F13-14E0-8A4D64E120FD}"/>
              </a:ext>
            </a:extLst>
          </p:cNvPr>
          <p:cNvSpPr/>
          <p:nvPr/>
        </p:nvSpPr>
        <p:spPr>
          <a:xfrm>
            <a:off x="5461000" y="2159000"/>
            <a:ext cx="120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800">
                <a:solidFill>
                  <a:srgbClr val="333333"/>
                </a:solidFill>
              </a:rPr>
              <a:t>Table Filters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D75450-8A0C-8100-CE56-F20AFC8F7F56}"/>
              </a:ext>
            </a:extLst>
          </p:cNvPr>
          <p:cNvSpPr/>
          <p:nvPr/>
        </p:nvSpPr>
        <p:spPr>
          <a:xfrm>
            <a:off x="6731000" y="2159000"/>
            <a:ext cx="120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800">
                <a:solidFill>
                  <a:srgbClr val="333333"/>
                </a:solidFill>
              </a:rPr>
              <a:t>Run Report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2091A4-0243-DD36-7933-0E78B9FA24A7}"/>
              </a:ext>
            </a:extLst>
          </p:cNvPr>
          <p:cNvSpPr/>
          <p:nvPr/>
        </p:nvSpPr>
        <p:spPr>
          <a:xfrm>
            <a:off x="8001000" y="2159000"/>
            <a:ext cx="120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800">
                <a:solidFill>
                  <a:srgbClr val="333333"/>
                </a:solidFill>
              </a:rPr>
              <a:t>Show Latest Report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A5899F-9EBD-D84E-5960-98891CD9C7EF}"/>
              </a:ext>
            </a:extLst>
          </p:cNvPr>
          <p:cNvSpPr/>
          <p:nvPr/>
        </p:nvSpPr>
        <p:spPr>
          <a:xfrm>
            <a:off x="9271000" y="2159000"/>
            <a:ext cx="120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800">
                <a:solidFill>
                  <a:srgbClr val="333333"/>
                </a:solidFill>
              </a:rPr>
              <a:t>Run Tracking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4D41B7-B34C-3CDB-F3BC-CD5BF65C528C}"/>
              </a:ext>
            </a:extLst>
          </p:cNvPr>
          <p:cNvSpPr/>
          <p:nvPr/>
        </p:nvSpPr>
        <p:spPr>
          <a:xfrm>
            <a:off x="10541000" y="2159000"/>
            <a:ext cx="120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800">
                <a:solidFill>
                  <a:srgbClr val="333333"/>
                </a:solidFill>
              </a:rPr>
              <a:t>Status/Error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D24CD3-1BFF-F793-05FF-2D150752A4B4}"/>
              </a:ext>
            </a:extLst>
          </p:cNvPr>
          <p:cNvSpPr/>
          <p:nvPr/>
        </p:nvSpPr>
        <p:spPr>
          <a:xfrm>
            <a:off x="381000" y="2971800"/>
            <a:ext cx="2159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Upload Service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87EB7D-9A1A-DCCF-32F5-048DABB96939}"/>
              </a:ext>
            </a:extLst>
          </p:cNvPr>
          <p:cNvSpPr txBox="1"/>
          <p:nvPr/>
        </p:nvSpPr>
        <p:spPr>
          <a:xfrm>
            <a:off x="444500" y="32004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CSV parsing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D478ED-0F6E-85D5-10B8-849F0218F8B2}"/>
              </a:ext>
            </a:extLst>
          </p:cNvPr>
          <p:cNvSpPr txBox="1"/>
          <p:nvPr/>
        </p:nvSpPr>
        <p:spPr>
          <a:xfrm>
            <a:off x="444500" y="33528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Header normalization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D5EAB3-C50C-4BB5-009E-5A49BCA85A5D}"/>
              </a:ext>
            </a:extLst>
          </p:cNvPr>
          <p:cNvSpPr txBox="1"/>
          <p:nvPr/>
        </p:nvSpPr>
        <p:spPr>
          <a:xfrm>
            <a:off x="444500" y="35052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Column validation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ABFB42-44A9-E986-BFBC-526BC0250A8C}"/>
              </a:ext>
            </a:extLst>
          </p:cNvPr>
          <p:cNvSpPr txBox="1"/>
          <p:nvPr/>
        </p:nvSpPr>
        <p:spPr>
          <a:xfrm>
            <a:off x="444500" y="36576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Row persistence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9FCC67-E879-FDE4-224F-7EAC532CC038}"/>
              </a:ext>
            </a:extLst>
          </p:cNvPr>
          <p:cNvSpPr/>
          <p:nvPr/>
        </p:nvSpPr>
        <p:spPr>
          <a:xfrm>
            <a:off x="2667000" y="2971800"/>
            <a:ext cx="2159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Matrix Resolver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782B2D-2941-9834-2B15-983CF13D8287}"/>
              </a:ext>
            </a:extLst>
          </p:cNvPr>
          <p:cNvSpPr txBox="1"/>
          <p:nvPr/>
        </p:nvSpPr>
        <p:spPr>
          <a:xfrm>
            <a:off x="2730500" y="32766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Country + artificial ML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414FF8-EACA-B056-5132-95FA7B8B7CB7}"/>
              </a:ext>
            </a:extLst>
          </p:cNvPr>
          <p:cNvSpPr txBox="1"/>
          <p:nvPr/>
        </p:nvSpPr>
        <p:spPr>
          <a:xfrm>
            <a:off x="2730500" y="34290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Brand/machine mapping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E86220-AC35-AB1E-F15A-775393F1B791}"/>
              </a:ext>
            </a:extLst>
          </p:cNvPr>
          <p:cNvSpPr/>
          <p:nvPr/>
        </p:nvSpPr>
        <p:spPr>
          <a:xfrm>
            <a:off x="4953000" y="2971800"/>
            <a:ext cx="2159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Rule Engine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4B407B-5639-7F7A-1C14-604E96A82371}"/>
              </a:ext>
            </a:extLst>
          </p:cNvPr>
          <p:cNvSpPr txBox="1"/>
          <p:nvPr/>
        </p:nvSpPr>
        <p:spPr>
          <a:xfrm>
            <a:off x="5016500" y="32004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Reporter flag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A8B0EA-454C-2A13-1A4C-40E39119893C}"/>
              </a:ext>
            </a:extLst>
          </p:cNvPr>
          <p:cNvSpPr txBox="1"/>
          <p:nvPr/>
        </p:nvSpPr>
        <p:spPr>
          <a:xfrm>
            <a:off x="5016500" y="33528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Deletion flag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6F3373-603C-9E21-256E-15EB0EC7EFBC}"/>
              </a:ext>
            </a:extLst>
          </p:cNvPr>
          <p:cNvSpPr txBox="1"/>
          <p:nvPr/>
        </p:nvSpPr>
        <p:spPr>
          <a:xfrm>
            <a:off x="5016500" y="35052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Pri/Sec tagging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AA0A2C-3B8D-FDE4-E069-BA17B8308DE8}"/>
              </a:ext>
            </a:extLst>
          </p:cNvPr>
          <p:cNvSpPr txBox="1"/>
          <p:nvPr/>
        </p:nvSpPr>
        <p:spPr>
          <a:xfrm>
            <a:off x="5016500" y="36576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VCE flags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201CC1D-07BF-BE0E-B92C-B4755FD866B9}"/>
              </a:ext>
            </a:extLst>
          </p:cNvPr>
          <p:cNvSpPr/>
          <p:nvPr/>
        </p:nvSpPr>
        <p:spPr>
          <a:xfrm>
            <a:off x="7239000" y="2971800"/>
            <a:ext cx="2159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Report Engine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37717C-9482-BEF3-5175-E0C4DAD7927E}"/>
              </a:ext>
            </a:extLst>
          </p:cNvPr>
          <p:cNvSpPr txBox="1"/>
          <p:nvPr/>
        </p:nvSpPr>
        <p:spPr>
          <a:xfrm>
            <a:off x="7302500" y="32004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CRP D1 Combined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2CBC3C-68A8-08AB-FD9E-B6999DEA7491}"/>
              </a:ext>
            </a:extLst>
          </p:cNvPr>
          <p:cNvSpPr txBox="1"/>
          <p:nvPr/>
        </p:nvSpPr>
        <p:spPr>
          <a:xfrm>
            <a:off x="7302500" y="33528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OTH Deletion Flag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D3709E-996A-6D9B-3E3C-2AFFF16F85E9}"/>
              </a:ext>
            </a:extLst>
          </p:cNvPr>
          <p:cNvSpPr txBox="1"/>
          <p:nvPr/>
        </p:nvSpPr>
        <p:spPr>
          <a:xfrm>
            <a:off x="7302500" y="35052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P00 3-Check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23957C-573C-839A-B735-3975DFB24E28}"/>
              </a:ext>
            </a:extLst>
          </p:cNvPr>
          <p:cNvSpPr txBox="1"/>
          <p:nvPr/>
        </p:nvSpPr>
        <p:spPr>
          <a:xfrm>
            <a:off x="7302500" y="3657600"/>
            <a:ext cx="2032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Snapshots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1B97169-B914-9152-7410-32CF1F3F7F70}"/>
              </a:ext>
            </a:extLst>
          </p:cNvPr>
          <p:cNvSpPr/>
          <p:nvPr/>
        </p:nvSpPr>
        <p:spPr>
          <a:xfrm>
            <a:off x="9525000" y="2971800"/>
            <a:ext cx="228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Versioning Engine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A7FD09-C4A0-BC27-960E-532C00C92E91}"/>
              </a:ext>
            </a:extLst>
          </p:cNvPr>
          <p:cNvSpPr txBox="1"/>
          <p:nvPr/>
        </p:nvSpPr>
        <p:spPr>
          <a:xfrm>
            <a:off x="9588500" y="3200400"/>
            <a:ext cx="2159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800">
                <a:solidFill>
                  <a:srgbClr val="333333"/>
                </a:solidFill>
              </a:rPr>
              <a:t>- New upload run per CSV</a:t>
            </a:r>
            <a:endParaRPr lang="sv-SE" sz="800">
              <a:solidFill>
                <a:srgbClr val="3333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A644C3-14C6-4937-47DA-4A70411AFF1E}"/>
              </a:ext>
            </a:extLst>
          </p:cNvPr>
          <p:cNvSpPr txBox="1"/>
          <p:nvPr/>
        </p:nvSpPr>
        <p:spPr>
          <a:xfrm>
            <a:off x="9588500" y="3352800"/>
            <a:ext cx="2159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Latest successful run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D82B30-8405-97B8-0E3D-0C57841ADF01}"/>
              </a:ext>
            </a:extLst>
          </p:cNvPr>
          <p:cNvSpPr txBox="1"/>
          <p:nvPr/>
        </p:nvSpPr>
        <p:spPr>
          <a:xfrm>
            <a:off x="9588500" y="3505200"/>
            <a:ext cx="2159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- Run metadata tracking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810E453-93CB-AA1E-76DF-FB4780209206}"/>
              </a:ext>
            </a:extLst>
          </p:cNvPr>
          <p:cNvSpPr/>
          <p:nvPr/>
        </p:nvSpPr>
        <p:spPr>
          <a:xfrm>
            <a:off x="381000" y="4470400"/>
            <a:ext cx="1397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P00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62F64D5-62DA-D0C3-D560-F28F96DB1A9F}"/>
              </a:ext>
            </a:extLst>
          </p:cNvPr>
          <p:cNvCxnSpPr/>
          <p:nvPr/>
        </p:nvCxnSpPr>
        <p:spPr>
          <a:xfrm>
            <a:off x="1778000" y="46482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33C862C2-8CA6-3718-0981-371E5741EB39}"/>
              </a:ext>
            </a:extLst>
          </p:cNvPr>
          <p:cNvSpPr/>
          <p:nvPr/>
        </p:nvSpPr>
        <p:spPr>
          <a:xfrm>
            <a:off x="1905000" y="4470400"/>
            <a:ext cx="1397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P10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416CA2C-0BE4-1A00-3BEE-07C56F68780B}"/>
              </a:ext>
            </a:extLst>
          </p:cNvPr>
          <p:cNvCxnSpPr/>
          <p:nvPr/>
        </p:nvCxnSpPr>
        <p:spPr>
          <a:xfrm>
            <a:off x="3302000" y="46482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3BAE907-7714-7328-BD14-333FE1BA9D98}"/>
              </a:ext>
            </a:extLst>
          </p:cNvPr>
          <p:cNvSpPr/>
          <p:nvPr/>
        </p:nvSpPr>
        <p:spPr>
          <a:xfrm>
            <a:off x="3429000" y="4470400"/>
            <a:ext cx="1397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A10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0BB3495-02BC-DAB0-B808-DE540302C0BD}"/>
              </a:ext>
            </a:extLst>
          </p:cNvPr>
          <p:cNvCxnSpPr/>
          <p:nvPr/>
        </p:nvCxnSpPr>
        <p:spPr>
          <a:xfrm>
            <a:off x="4826000" y="46482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D7DC60F6-8110-CF99-09DF-602F2D9B9963}"/>
              </a:ext>
            </a:extLst>
          </p:cNvPr>
          <p:cNvSpPr/>
          <p:nvPr/>
        </p:nvSpPr>
        <p:spPr>
          <a:xfrm>
            <a:off x="4953000" y="4470400"/>
            <a:ext cx="1397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SPL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B3D2780-83C3-B057-D68D-747EBD958C28}"/>
              </a:ext>
            </a:extLst>
          </p:cNvPr>
          <p:cNvCxnSpPr/>
          <p:nvPr/>
        </p:nvCxnSpPr>
        <p:spPr>
          <a:xfrm>
            <a:off x="6350000" y="46482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0BC564B0-7902-0F09-2A0E-1612D36FFC52}"/>
              </a:ext>
            </a:extLst>
          </p:cNvPr>
          <p:cNvSpPr/>
          <p:nvPr/>
        </p:nvSpPr>
        <p:spPr>
          <a:xfrm>
            <a:off x="6477000" y="4470400"/>
            <a:ext cx="1397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TMC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CDF8E27-15AD-BFDA-A2FD-2CDFF53B7BCE}"/>
              </a:ext>
            </a:extLst>
          </p:cNvPr>
          <p:cNvCxnSpPr/>
          <p:nvPr/>
        </p:nvCxnSpPr>
        <p:spPr>
          <a:xfrm>
            <a:off x="7874000" y="46482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4A1E292E-5D4E-CE33-B6E4-D91A3C5EDC1E}"/>
              </a:ext>
            </a:extLst>
          </p:cNvPr>
          <p:cNvSpPr/>
          <p:nvPr/>
        </p:nvSpPr>
        <p:spPr>
          <a:xfrm>
            <a:off x="8001000" y="4470400"/>
            <a:ext cx="1397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RES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FC1ABAF-5B62-8D1C-E4E6-4112A21179BC}"/>
              </a:ext>
            </a:extLst>
          </p:cNvPr>
          <p:cNvCxnSpPr/>
          <p:nvPr/>
        </p:nvCxnSpPr>
        <p:spPr>
          <a:xfrm>
            <a:off x="9398000" y="4648200"/>
            <a:ext cx="127000" cy="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498E7FFD-F261-3F89-BABF-3A7119D92636}"/>
              </a:ext>
            </a:extLst>
          </p:cNvPr>
          <p:cNvSpPr/>
          <p:nvPr/>
        </p:nvSpPr>
        <p:spPr>
          <a:xfrm>
            <a:off x="9525000" y="4470400"/>
            <a:ext cx="1397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sv-SE" sz="1000" b="1">
                <a:solidFill>
                  <a:srgbClr val="333333"/>
                </a:solidFill>
              </a:rPr>
              <a:t>RPT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376C7E-1E9A-6EC1-0DAC-877A865FEC5F}"/>
              </a:ext>
            </a:extLst>
          </p:cNvPr>
          <p:cNvSpPr txBox="1"/>
          <p:nvPr/>
        </p:nvSpPr>
        <p:spPr>
          <a:xfrm>
            <a:off x="381000" y="4876800"/>
            <a:ext cx="5715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sv-SE" sz="800">
                <a:solidFill>
                  <a:srgbClr val="333333"/>
                </a:solidFill>
              </a:rPr>
              <a:t>P00: SAL deletion + OTH reporter/deletion + Source Matrix validation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D0D220-3399-6037-274B-C14957526269}"/>
              </a:ext>
            </a:extLst>
          </p:cNvPr>
          <p:cNvSpPr txBox="1"/>
          <p:nvPr/>
        </p:nvSpPr>
        <p:spPr>
          <a:xfrm>
            <a:off x="6350000" y="4876800"/>
            <a:ext cx="5461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800">
                <a:solidFill>
                  <a:srgbClr val="333333"/>
                </a:solidFill>
              </a:rPr>
              <a:t>TMC: eligible row selection + case-handling workflow</a:t>
            </a:r>
            <a:endParaRPr lang="sv-SE" sz="800">
              <a:solidFill>
                <a:srgbClr val="333333"/>
              </a:solidFill>
            </a:endParaRP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30DDC8C2-BAB6-2420-77D3-363833F4CF93}"/>
              </a:ext>
            </a:extLst>
          </p:cNvPr>
          <p:cNvSpPr/>
          <p:nvPr/>
        </p:nvSpPr>
        <p:spPr>
          <a:xfrm>
            <a:off x="381000" y="5511800"/>
            <a:ext cx="1587500" cy="381000"/>
          </a:xfrm>
          <a:prstGeom prst="can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00">
                <a:solidFill>
                  <a:srgbClr val="333333"/>
                </a:solidFill>
              </a:rPr>
              <a:t>upload_runs</a:t>
            </a:r>
          </a:p>
        </p:txBody>
      </p:sp>
      <p:sp>
        <p:nvSpPr>
          <p:cNvPr id="74" name="Cylinder 73">
            <a:extLst>
              <a:ext uri="{FF2B5EF4-FFF2-40B4-BE49-F238E27FC236}">
                <a16:creationId xmlns:a16="http://schemas.microsoft.com/office/drawing/2014/main" id="{3278FBE3-DD48-4C18-AE83-B4C40C731D2C}"/>
              </a:ext>
            </a:extLst>
          </p:cNvPr>
          <p:cNvSpPr/>
          <p:nvPr/>
        </p:nvSpPr>
        <p:spPr>
          <a:xfrm>
            <a:off x="2032000" y="5511800"/>
            <a:ext cx="1587500" cy="381000"/>
          </a:xfrm>
          <a:prstGeom prst="can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00">
                <a:solidFill>
                  <a:srgbClr val="333333"/>
                </a:solidFill>
              </a:rPr>
              <a:t>group_country_rows</a:t>
            </a:r>
          </a:p>
        </p:txBody>
      </p:sp>
      <p:sp>
        <p:nvSpPr>
          <p:cNvPr id="75" name="Cylinder 74">
            <a:extLst>
              <a:ext uri="{FF2B5EF4-FFF2-40B4-BE49-F238E27FC236}">
                <a16:creationId xmlns:a16="http://schemas.microsoft.com/office/drawing/2014/main" id="{26412FEE-D5A0-B172-2742-2C9CB8C8FA17}"/>
              </a:ext>
            </a:extLst>
          </p:cNvPr>
          <p:cNvSpPr/>
          <p:nvPr/>
        </p:nvSpPr>
        <p:spPr>
          <a:xfrm>
            <a:off x="3683000" y="5511800"/>
            <a:ext cx="1587500" cy="381000"/>
          </a:xfrm>
          <a:prstGeom prst="can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00">
                <a:solidFill>
                  <a:srgbClr val="333333"/>
                </a:solidFill>
              </a:rPr>
              <a:t>reporter_list_rows</a:t>
            </a:r>
          </a:p>
        </p:txBody>
      </p:sp>
      <p:sp>
        <p:nvSpPr>
          <p:cNvPr id="76" name="Cylinder 75">
            <a:extLst>
              <a:ext uri="{FF2B5EF4-FFF2-40B4-BE49-F238E27FC236}">
                <a16:creationId xmlns:a16="http://schemas.microsoft.com/office/drawing/2014/main" id="{6A8E060A-51C5-1561-5921-156CD495B434}"/>
              </a:ext>
            </a:extLst>
          </p:cNvPr>
          <p:cNvSpPr/>
          <p:nvPr/>
        </p:nvSpPr>
        <p:spPr>
          <a:xfrm>
            <a:off x="5334000" y="5511800"/>
            <a:ext cx="1587500" cy="381000"/>
          </a:xfrm>
          <a:prstGeom prst="can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00">
                <a:solidFill>
                  <a:srgbClr val="333333"/>
                </a:solidFill>
              </a:rPr>
              <a:t>source_matrix_rows</a:t>
            </a:r>
          </a:p>
        </p:txBody>
      </p:sp>
      <p:sp>
        <p:nvSpPr>
          <p:cNvPr id="77" name="Cylinder 76">
            <a:extLst>
              <a:ext uri="{FF2B5EF4-FFF2-40B4-BE49-F238E27FC236}">
                <a16:creationId xmlns:a16="http://schemas.microsoft.com/office/drawing/2014/main" id="{2FC9E3E9-D68F-9F52-C21F-1C72229F91F1}"/>
              </a:ext>
            </a:extLst>
          </p:cNvPr>
          <p:cNvSpPr/>
          <p:nvPr/>
        </p:nvSpPr>
        <p:spPr>
          <a:xfrm>
            <a:off x="6985000" y="5511800"/>
            <a:ext cx="1587500" cy="381000"/>
          </a:xfrm>
          <a:prstGeom prst="can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00">
                <a:solidFill>
                  <a:srgbClr val="333333"/>
                </a:solidFill>
              </a:rPr>
              <a:t>size_class_rows</a:t>
            </a:r>
          </a:p>
        </p:txBody>
      </p:sp>
      <p:sp>
        <p:nvSpPr>
          <p:cNvPr id="78" name="Cylinder 77">
            <a:extLst>
              <a:ext uri="{FF2B5EF4-FFF2-40B4-BE49-F238E27FC236}">
                <a16:creationId xmlns:a16="http://schemas.microsoft.com/office/drawing/2014/main" id="{92782D26-2FA1-2775-F073-247323BE16D9}"/>
              </a:ext>
            </a:extLst>
          </p:cNvPr>
          <p:cNvSpPr/>
          <p:nvPr/>
        </p:nvSpPr>
        <p:spPr>
          <a:xfrm>
            <a:off x="8636000" y="5511800"/>
            <a:ext cx="1587500" cy="381000"/>
          </a:xfrm>
          <a:prstGeom prst="can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00">
                <a:solidFill>
                  <a:srgbClr val="333333"/>
                </a:solidFill>
              </a:rPr>
              <a:t>brand_mapping_rows</a:t>
            </a:r>
          </a:p>
        </p:txBody>
      </p:sp>
      <p:sp>
        <p:nvSpPr>
          <p:cNvPr id="79" name="Cylinder 78">
            <a:extLst>
              <a:ext uri="{FF2B5EF4-FFF2-40B4-BE49-F238E27FC236}">
                <a16:creationId xmlns:a16="http://schemas.microsoft.com/office/drawing/2014/main" id="{5CD5E308-C15D-7C84-9965-6B70A4860848}"/>
              </a:ext>
            </a:extLst>
          </p:cNvPr>
          <p:cNvSpPr/>
          <p:nvPr/>
        </p:nvSpPr>
        <p:spPr>
          <a:xfrm>
            <a:off x="10287000" y="5511800"/>
            <a:ext cx="1587500" cy="381000"/>
          </a:xfrm>
          <a:prstGeom prst="can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00">
                <a:solidFill>
                  <a:srgbClr val="333333"/>
                </a:solidFill>
              </a:rPr>
              <a:t>machine_line_mapping_rows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7E2A00-902B-515C-8E90-6C99C86F9C86}"/>
              </a:ext>
            </a:extLst>
          </p:cNvPr>
          <p:cNvSpPr/>
          <p:nvPr/>
        </p:nvSpPr>
        <p:spPr>
          <a:xfrm>
            <a:off x="381000" y="5943600"/>
            <a:ext cx="11430000" cy="355600"/>
          </a:xfrm>
          <a:prstGeom prst="rect">
            <a:avLst/>
          </a:prstGeom>
          <a:solidFill>
            <a:srgbClr val="F3F3F3"/>
          </a:solidFill>
          <a:ln w="12700">
            <a:solidFill>
              <a:srgbClr val="C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r>
              <a:rPr lang="en-US" sz="900">
                <a:solidFill>
                  <a:srgbClr val="333333"/>
                </a:solidFill>
              </a:rPr>
              <a:t>Pattern: every CSV upload creates upload_run_id; UI Show Latest loads newest successful run.</a:t>
            </a:r>
            <a:endParaRPr lang="sv-SE" sz="900">
              <a:solidFill>
                <a:srgbClr val="333333"/>
              </a:solidFill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AA66D0A-2A67-95BF-5EB1-B430DC73F689}"/>
              </a:ext>
            </a:extLst>
          </p:cNvPr>
          <p:cNvCxnSpPr/>
          <p:nvPr/>
        </p:nvCxnSpPr>
        <p:spPr>
          <a:xfrm>
            <a:off x="6096000" y="1701800"/>
            <a:ext cx="0" cy="45720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9B377B2-1AD1-C061-4EE9-08F6E6DA6A3B}"/>
              </a:ext>
            </a:extLst>
          </p:cNvPr>
          <p:cNvCxnSpPr/>
          <p:nvPr/>
        </p:nvCxnSpPr>
        <p:spPr>
          <a:xfrm>
            <a:off x="6096000" y="2463800"/>
            <a:ext cx="0" cy="50800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FE9EC2F-4F2D-FF48-CC5D-5FF57FF0FE5B}"/>
              </a:ext>
            </a:extLst>
          </p:cNvPr>
          <p:cNvCxnSpPr/>
          <p:nvPr/>
        </p:nvCxnSpPr>
        <p:spPr>
          <a:xfrm>
            <a:off x="6096000" y="3987800"/>
            <a:ext cx="0" cy="48260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54BAB41-0E44-B813-4E7C-171A328FC4CC}"/>
              </a:ext>
            </a:extLst>
          </p:cNvPr>
          <p:cNvCxnSpPr/>
          <p:nvPr/>
        </p:nvCxnSpPr>
        <p:spPr>
          <a:xfrm>
            <a:off x="6096000" y="4826000"/>
            <a:ext cx="0" cy="685800"/>
          </a:xfrm>
          <a:prstGeom prst="line">
            <a:avLst/>
          </a:prstGeom>
          <a:ln w="19050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44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Yanxiang Du</dc:creator>
  <cp:lastModifiedBy>Yanxiang Du</cp:lastModifiedBy>
  <cp:revision>1</cp:revision>
  <dcterms:created xsi:type="dcterms:W3CDTF">2026-05-05T00:20:59Z</dcterms:created>
  <dcterms:modified xsi:type="dcterms:W3CDTF">2026-05-05T00:20:59Z</dcterms:modified>
</cp:coreProperties>
</file>