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226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A4128-6C51-CF26-8EAE-EF84CD25B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C9E40-76D1-9ED2-CB4D-9EBF19882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4E0C0-A8BA-3490-E065-DFA6A84D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146-7096-F8FF-AF63-9E96A48D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32B05-90B8-99A5-0282-73FBA2DC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541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1CCA9-E08E-FBBC-F78A-9BB6F95B6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0C28A-D4A2-5F50-A112-ACEC21B39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B7E68-3EB0-2D99-2E75-8A2958678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B6D22-D58C-30AE-F542-1E1C5E51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57D73-8B52-623D-FB30-66011DA2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692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A7BC-7878-C02A-6C87-0FB97119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1D32D-23AD-84ED-2E78-4D4330A86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5C648-FC6F-6895-2BC0-A5EF274F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7D392-FDCE-D270-A070-BBB75B42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DB830-ED92-5794-2AC2-E24B748F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1790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5E86-2478-F75E-B68B-84D4E75F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1FE01-2F61-52BF-2D60-DA4A8BA8E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4F2E7-4A2A-56EE-E5BC-75DE0D529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4E3DC-2933-180F-E1DD-0AE7FAEAF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59AC7-4A04-4786-D39B-E5BA9500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5843A-4C64-3C74-9AC7-99C0091D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0868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7546-EA9E-8586-730F-22E05E32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D475D-6CA5-CBEF-F527-9949A2F18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DF789-B45C-B335-9A32-71F68C048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EB32F-7B5F-8419-9FD6-FD12258E6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09811F-F539-3DC0-879D-FA784F422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97B0E-AFEC-00E0-84B2-354C9E62A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E5AFFC-0CC1-F35A-835B-31D086FFA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36FA5-6B87-4B83-1238-1C64899C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61212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2F93-3385-88DD-3C81-4FAED1D6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9E9D0-785C-6BAC-6737-28197BCFD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29589-332A-2803-52B3-C180D74A7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40393-287F-E6B7-7987-191A530E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1097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58C127-C529-3939-CC2B-E76DF680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7A986-1D07-47F1-5406-097BFC42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50459-89C9-C4B7-B78F-6CFA350C3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11408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FAA8-9106-AFF8-6F96-8730F8215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3DFAD-E383-25DC-D6A6-2FC654D4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C2A50-316A-3A0E-25C2-5D748439B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7F905-74EB-0E6A-6A41-33FE980F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FD5F2-090C-EFD0-2090-0F9E941F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C8F1A-842A-AF71-4F55-0082FED4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856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3D41-5549-F0FB-3FE1-41101E5A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515C0-C52E-43E9-94C8-6E4A3E602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9EE07-7F9B-6F26-D66E-82515B43B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7AFFC-0C27-C922-5F26-61D04FEC6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3FAB8-F75A-FA07-A7D5-F36614FE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91EED-D9C6-A642-7BBC-4A7DE9D7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0328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34CED-CE4D-1071-4978-B8D4C74F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8A9C8-0DB6-E9A3-D888-6489C0060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94815-715B-1CD3-3559-A4403F01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1ECE4-8C1B-DF00-4787-2507926B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D1EB9-EBEB-EBE2-1849-0537D6E9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7463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65EEC-B020-56FE-0A62-3E400CC83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6BF02-A967-F3B0-16F3-B516FBF98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31341-9136-9034-3722-D51BA8FD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2D692-F70D-1F4C-AC6F-3830F392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C6323-26F5-534C-05CA-88D3E10D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127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D17AEE-9C7D-28BF-4F4B-AB8B7C3A5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ADC3D-9CDC-0654-1776-D849FFDB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53E33-66B6-05F1-E70A-5486BF39D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C243B-9DA1-4841-A7C0-8EEA1CEEFB87}" type="datetimeFigureOut">
              <a:rPr lang="sv-SE" smtClean="0"/>
              <a:t>2026-05-05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009DB-F248-836B-CFA5-FD8B03C76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11208-0914-BEBF-726A-EE0E24C87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C5826-F8AD-424B-A592-D107151039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10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A1183E-D2AC-B2AC-CFCB-D61E04A0FB22}"/>
              </a:ext>
            </a:extLst>
          </p:cNvPr>
          <p:cNvSpPr txBox="1"/>
          <p:nvPr/>
        </p:nvSpPr>
        <p:spPr>
          <a:xfrm>
            <a:off x="254000" y="127000"/>
            <a:ext cx="1574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>
                <a:solidFill>
                  <a:srgbClr val="1E1E1E"/>
                </a:solidFill>
              </a:rPr>
              <a:t>TMC Web System - Full Functional Architecture</a:t>
            </a:r>
            <a:endParaRPr lang="sv-SE" sz="2800" b="1">
              <a:solidFill>
                <a:srgbClr val="1E1E1E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2566E7-37AC-8107-7002-80927C24ADB0}"/>
              </a:ext>
            </a:extLst>
          </p:cNvPr>
          <p:cNvSpPr/>
          <p:nvPr/>
        </p:nvSpPr>
        <p:spPr>
          <a:xfrm>
            <a:off x="254000" y="825500"/>
            <a:ext cx="15748000" cy="431800"/>
          </a:xfrm>
          <a:prstGeom prst="rect">
            <a:avLst/>
          </a:prstGeom>
          <a:solidFill>
            <a:srgbClr val="E6E6E6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fr-FR" sz="1400" b="1">
                <a:solidFill>
                  <a:srgbClr val="1E1E1E"/>
                </a:solidFill>
              </a:rPr>
              <a:t>Layer 1: User Navigation &amp; Pages</a:t>
            </a:r>
            <a:endParaRPr lang="sv-SE" sz="1400" b="1">
              <a:solidFill>
                <a:srgbClr val="1E1E1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CD4150-6F05-3328-0F18-B061C92CE681}"/>
              </a:ext>
            </a:extLst>
          </p:cNvPr>
          <p:cNvSpPr/>
          <p:nvPr/>
        </p:nvSpPr>
        <p:spPr>
          <a:xfrm>
            <a:off x="254000" y="2984500"/>
            <a:ext cx="15748000" cy="431800"/>
          </a:xfrm>
          <a:prstGeom prst="rect">
            <a:avLst/>
          </a:prstGeom>
          <a:solidFill>
            <a:srgbClr val="E6E6E6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E1E1E"/>
                </a:solidFill>
              </a:rPr>
              <a:t>Layer 2: Feature Actions (UI Capabilities)</a:t>
            </a:r>
            <a:endParaRPr lang="sv-SE" sz="1400" b="1">
              <a:solidFill>
                <a:srgbClr val="1E1E1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0A75EC-AB6F-EA76-2CD8-58784563EFCB}"/>
              </a:ext>
            </a:extLst>
          </p:cNvPr>
          <p:cNvSpPr/>
          <p:nvPr/>
        </p:nvSpPr>
        <p:spPr>
          <a:xfrm>
            <a:off x="254000" y="4254500"/>
            <a:ext cx="15748000" cy="431800"/>
          </a:xfrm>
          <a:prstGeom prst="rect">
            <a:avLst/>
          </a:prstGeom>
          <a:solidFill>
            <a:srgbClr val="E6E6E6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E1E1E"/>
                </a:solidFill>
              </a:rPr>
              <a:t>Layer 3: Processing &amp; Rule Engine (Backend)</a:t>
            </a:r>
            <a:endParaRPr lang="sv-SE" sz="1400" b="1">
              <a:solidFill>
                <a:srgbClr val="1E1E1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52FAA-5A84-EC3F-CD8B-2AD511F77853}"/>
              </a:ext>
            </a:extLst>
          </p:cNvPr>
          <p:cNvSpPr/>
          <p:nvPr/>
        </p:nvSpPr>
        <p:spPr>
          <a:xfrm>
            <a:off x="254000" y="6413500"/>
            <a:ext cx="15748000" cy="431800"/>
          </a:xfrm>
          <a:prstGeom prst="rect">
            <a:avLst/>
          </a:prstGeom>
          <a:solidFill>
            <a:srgbClr val="E6E6E6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400" b="1">
                <a:solidFill>
                  <a:srgbClr val="1E1E1E"/>
                </a:solidFill>
              </a:rPr>
              <a:t>Layer 4: Pipeline Calculations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DC07C-4A56-562B-950E-EE3A4E0216FC}"/>
              </a:ext>
            </a:extLst>
          </p:cNvPr>
          <p:cNvSpPr/>
          <p:nvPr/>
        </p:nvSpPr>
        <p:spPr>
          <a:xfrm>
            <a:off x="254000" y="7810500"/>
            <a:ext cx="15748000" cy="431800"/>
          </a:xfrm>
          <a:prstGeom prst="rect">
            <a:avLst/>
          </a:prstGeom>
          <a:solidFill>
            <a:srgbClr val="E6E6E6"/>
          </a:solidFill>
          <a:ln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400" b="1">
                <a:solidFill>
                  <a:srgbClr val="1E1E1E"/>
                </a:solidFill>
              </a:rPr>
              <a:t>Layer 5: Data Storage (Database)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D99689-A171-D830-E802-C274CFDE8C73}"/>
              </a:ext>
            </a:extLst>
          </p:cNvPr>
          <p:cNvSpPr/>
          <p:nvPr/>
        </p:nvSpPr>
        <p:spPr>
          <a:xfrm>
            <a:off x="508000" y="1397000"/>
            <a:ext cx="5969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100">
                <a:solidFill>
                  <a:srgbClr val="1E1E1E"/>
                </a:solidFill>
              </a:rPr>
              <a:t>Home
Master Data Maintenance &amp; Upload Entry
Submit Matrix
Upload OTH Data / Upload CRP Data
View Pipeline (P00, P10, A10, SPL, TMC, RES, RPT)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B5509D-2284-878E-D735-9A6D40EA5004}"/>
              </a:ext>
            </a:extLst>
          </p:cNvPr>
          <p:cNvSpPr/>
          <p:nvPr/>
        </p:nvSpPr>
        <p:spPr>
          <a:xfrm>
            <a:off x="6731000" y="1397000"/>
            <a:ext cx="5461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100">
                <a:solidFill>
                  <a:srgbClr val="1E1E1E"/>
                </a:solidFill>
              </a:rPr>
              <a:t>Submit Matrix Types
- Group Country CSV
- Reporter List CSV
- Source Matrix CSV
- Size Class Flag CSV
- Brand Mapping CSV
- Machine Line Mapping CSV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C55667-0E18-E814-65BA-879C4408C693}"/>
              </a:ext>
            </a:extLst>
          </p:cNvPr>
          <p:cNvSpPr/>
          <p:nvPr/>
        </p:nvSpPr>
        <p:spPr>
          <a:xfrm>
            <a:off x="12446000" y="1397000"/>
            <a:ext cx="3302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>
                <a:solidFill>
                  <a:srgbClr val="1E1E1E"/>
                </a:solidFill>
              </a:rPr>
              <a:t>User Flow
Home -&gt; Submit Matrix -&gt; Upload OTH
-&gt; Upload CRP -&gt; View Pipeline -&gt; P00</a:t>
            </a:r>
            <a:endParaRPr lang="sv-SE" sz="1100">
              <a:solidFill>
                <a:srgbClr val="1E1E1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7695E2-4B8C-C03C-5D81-2B1F1CCF7168}"/>
              </a:ext>
            </a:extLst>
          </p:cNvPr>
          <p:cNvSpPr/>
          <p:nvPr/>
        </p:nvSpPr>
        <p:spPr>
          <a:xfrm>
            <a:off x="508000" y="3492500"/>
            <a:ext cx="152400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100">
                <a:solidFill>
                  <a:srgbClr val="1E1E1E"/>
                </a:solidFill>
              </a:rPr>
              <a:t>Upload | Show Latest | Download Latest | Edit in Page | Table Filters (All) | Run Report | Show Latest Report | Run Tracking Timestamp | Status/Error Messaging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2D0ACF-B38D-649F-E8E0-B95274F52D94}"/>
              </a:ext>
            </a:extLst>
          </p:cNvPr>
          <p:cNvSpPr/>
          <p:nvPr/>
        </p:nvSpPr>
        <p:spPr>
          <a:xfrm>
            <a:off x="508000" y="4826000"/>
            <a:ext cx="2921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1E1E1E"/>
                </a:solidFill>
              </a:rPr>
              <a:t>Upload Service
- CSV parsing
- Header normalization
- Column validation
- Row persistence</a:t>
            </a:r>
            <a:endParaRPr lang="sv-SE" sz="1000" b="1">
              <a:solidFill>
                <a:srgbClr val="1E1E1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0D76C8-5268-56EF-078F-F3716824AAB1}"/>
              </a:ext>
            </a:extLst>
          </p:cNvPr>
          <p:cNvSpPr/>
          <p:nvPr/>
        </p:nvSpPr>
        <p:spPr>
          <a:xfrm>
            <a:off x="3683000" y="4826000"/>
            <a:ext cx="2921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1E1E1E"/>
                </a:solidFill>
              </a:rPr>
              <a:t>Matrix Resolver
- Country + artificial ML match
- Brand/machine mapping resolve</a:t>
            </a:r>
            <a:endParaRPr lang="sv-SE" sz="1000" b="1">
              <a:solidFill>
                <a:srgbClr val="1E1E1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B74F70-91B2-B01F-5AB1-79378440CD8F}"/>
              </a:ext>
            </a:extLst>
          </p:cNvPr>
          <p:cNvSpPr/>
          <p:nvPr/>
        </p:nvSpPr>
        <p:spPr>
          <a:xfrm>
            <a:off x="6858000" y="4826000"/>
            <a:ext cx="2921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000" b="1">
                <a:solidFill>
                  <a:srgbClr val="1E1E1E"/>
                </a:solidFill>
              </a:rPr>
              <a:t>Rule Engine
- Reporter flag
- Deletion flag
- Pri/Sec tagging
- VCE-related flags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64F905-06F1-B05E-31BE-532727A9AF6F}"/>
              </a:ext>
            </a:extLst>
          </p:cNvPr>
          <p:cNvSpPr/>
          <p:nvPr/>
        </p:nvSpPr>
        <p:spPr>
          <a:xfrm>
            <a:off x="10033000" y="4826000"/>
            <a:ext cx="2921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1E1E1E"/>
                </a:solidFill>
              </a:rPr>
              <a:t>Report Engine
- CRP D1 Combined
- OTH Deletion Flag
- P00 3-Check
- Layer snapshots</a:t>
            </a:r>
            <a:endParaRPr lang="sv-SE" sz="1000" b="1">
              <a:solidFill>
                <a:srgbClr val="1E1E1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EC7977-1D5E-838F-B4BD-DD2C0DA6DB8A}"/>
              </a:ext>
            </a:extLst>
          </p:cNvPr>
          <p:cNvSpPr/>
          <p:nvPr/>
        </p:nvSpPr>
        <p:spPr>
          <a:xfrm>
            <a:off x="13208000" y="4826000"/>
            <a:ext cx="2540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1E1E1E"/>
                </a:solidFill>
              </a:rPr>
              <a:t>Versioning Engine
- New upload run per CSV
- Latest successful run
- Run metadata tracking</a:t>
            </a:r>
            <a:endParaRPr lang="sv-SE" sz="1000" b="1">
              <a:solidFill>
                <a:srgbClr val="1E1E1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ACB2E2-FCE4-9F7F-C604-71039B84E00D}"/>
              </a:ext>
            </a:extLst>
          </p:cNvPr>
          <p:cNvSpPr/>
          <p:nvPr/>
        </p:nvSpPr>
        <p:spPr>
          <a:xfrm>
            <a:off x="508000" y="6985000"/>
            <a:ext cx="152400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>
                <a:solidFill>
                  <a:srgbClr val="1E1E1E"/>
                </a:solidFill>
              </a:rPr>
              <a:t>P00 Raw Preparation -&gt; P10 Prepared Output -&gt; A10 Adjustment Build -&gt; SPL Machine Line Split -&gt; TMC Total Market Calculation -&gt; RES Restatement -&gt; RPT Reporting</a:t>
            </a:r>
            <a:endParaRPr lang="sv-SE" sz="1100" b="1">
              <a:solidFill>
                <a:srgbClr val="1E1E1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E44486-4A9F-0818-E3EC-5712ECD7E367}"/>
              </a:ext>
            </a:extLst>
          </p:cNvPr>
          <p:cNvSpPr/>
          <p:nvPr/>
        </p:nvSpPr>
        <p:spPr>
          <a:xfrm>
            <a:off x="508000" y="8382000"/>
            <a:ext cx="2286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100" b="1">
                <a:solidFill>
                  <a:srgbClr val="1E1E1E"/>
                </a:solidFill>
              </a:rPr>
              <a:t>upload_runs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A75C0C-34F4-02BA-F337-82489E031D28}"/>
              </a:ext>
            </a:extLst>
          </p:cNvPr>
          <p:cNvSpPr/>
          <p:nvPr/>
        </p:nvSpPr>
        <p:spPr>
          <a:xfrm>
            <a:off x="2984500" y="8382000"/>
            <a:ext cx="2286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000">
                <a:solidFill>
                  <a:srgbClr val="1E1E1E"/>
                </a:solidFill>
              </a:rPr>
              <a:t>group_country_rows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148990-1AB8-FA85-79BC-275CD67C9F4C}"/>
              </a:ext>
            </a:extLst>
          </p:cNvPr>
          <p:cNvSpPr/>
          <p:nvPr/>
        </p:nvSpPr>
        <p:spPr>
          <a:xfrm>
            <a:off x="5461000" y="8382000"/>
            <a:ext cx="2286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000">
                <a:solidFill>
                  <a:srgbClr val="1E1E1E"/>
                </a:solidFill>
              </a:rPr>
              <a:t>reporter_list_rows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158CB9-D8EF-A240-52C7-9ABD12404C6E}"/>
              </a:ext>
            </a:extLst>
          </p:cNvPr>
          <p:cNvSpPr/>
          <p:nvPr/>
        </p:nvSpPr>
        <p:spPr>
          <a:xfrm>
            <a:off x="7937500" y="8382000"/>
            <a:ext cx="2286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000">
                <a:solidFill>
                  <a:srgbClr val="1E1E1E"/>
                </a:solidFill>
              </a:rPr>
              <a:t>source_matrix_rows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4537C5-345E-E14D-3E94-2C6E8B0E2C09}"/>
              </a:ext>
            </a:extLst>
          </p:cNvPr>
          <p:cNvSpPr/>
          <p:nvPr/>
        </p:nvSpPr>
        <p:spPr>
          <a:xfrm>
            <a:off x="10414000" y="8382000"/>
            <a:ext cx="2286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sv-SE" sz="1000">
                <a:solidFill>
                  <a:srgbClr val="1E1E1E"/>
                </a:solidFill>
              </a:rPr>
              <a:t>size_class_rows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A6D472-AE04-62A9-A708-9ABFFA68B09C}"/>
              </a:ext>
            </a:extLst>
          </p:cNvPr>
          <p:cNvSpPr/>
          <p:nvPr/>
        </p:nvSpPr>
        <p:spPr>
          <a:xfrm>
            <a:off x="12890500" y="8382000"/>
            <a:ext cx="28575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>
                <a:solidFill>
                  <a:srgbClr val="1E1E1E"/>
                </a:solidFill>
              </a:rPr>
              <a:t>brand_mapping_rows / machine_line_mapping_rows</a:t>
            </a:r>
            <a:endParaRPr lang="sv-SE" sz="900">
              <a:solidFill>
                <a:srgbClr val="1E1E1E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71BF5F-8F64-7FB9-28F7-D6EBDD4B1C66}"/>
              </a:ext>
            </a:extLst>
          </p:cNvPr>
          <p:cNvSpPr/>
          <p:nvPr/>
        </p:nvSpPr>
        <p:spPr>
          <a:xfrm>
            <a:off x="508000" y="9194800"/>
            <a:ext cx="15240000" cy="482600"/>
          </a:xfrm>
          <a:prstGeom prst="rect">
            <a:avLst/>
          </a:prstGeom>
          <a:solidFill>
            <a:srgbClr val="F3F3F3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>
                <a:solidFill>
                  <a:srgbClr val="1E1E1E"/>
                </a:solidFill>
              </a:rPr>
              <a:t>All matrix uploads follow one pattern: create upload_run_id, store parsed rows, and load latest successful run in UI.</a:t>
            </a:r>
            <a:endParaRPr lang="sv-SE" sz="1000">
              <a:solidFill>
                <a:srgbClr val="1E1E1E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099137A-CD3F-9A71-9125-4FF823C75E82}"/>
              </a:ext>
            </a:extLst>
          </p:cNvPr>
          <p:cNvCxnSpPr/>
          <p:nvPr/>
        </p:nvCxnSpPr>
        <p:spPr>
          <a:xfrm>
            <a:off x="6477000" y="2095500"/>
            <a:ext cx="254000" cy="0"/>
          </a:xfrm>
          <a:prstGeom prst="line">
            <a:avLst/>
          </a:prstGeom>
          <a:ln w="22225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62AB1F-8AA5-E60A-C6DD-E84269C97E12}"/>
              </a:ext>
            </a:extLst>
          </p:cNvPr>
          <p:cNvCxnSpPr/>
          <p:nvPr/>
        </p:nvCxnSpPr>
        <p:spPr>
          <a:xfrm>
            <a:off x="12192000" y="2095500"/>
            <a:ext cx="254000" cy="0"/>
          </a:xfrm>
          <a:prstGeom prst="line">
            <a:avLst/>
          </a:prstGeom>
          <a:ln w="22225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BE3F00B-AAC1-829D-E543-4FF25A3D7288}"/>
              </a:ext>
            </a:extLst>
          </p:cNvPr>
          <p:cNvCxnSpPr/>
          <p:nvPr/>
        </p:nvCxnSpPr>
        <p:spPr>
          <a:xfrm>
            <a:off x="8128000" y="2794000"/>
            <a:ext cx="0" cy="698500"/>
          </a:xfrm>
          <a:prstGeom prst="line">
            <a:avLst/>
          </a:prstGeom>
          <a:ln w="22225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22E7DC-95F4-1AE1-81FF-AC2966DC5C5E}"/>
              </a:ext>
            </a:extLst>
          </p:cNvPr>
          <p:cNvCxnSpPr/>
          <p:nvPr/>
        </p:nvCxnSpPr>
        <p:spPr>
          <a:xfrm>
            <a:off x="8128000" y="4102100"/>
            <a:ext cx="0" cy="723900"/>
          </a:xfrm>
          <a:prstGeom prst="line">
            <a:avLst/>
          </a:prstGeom>
          <a:ln w="22225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9B60EC-53DD-E38D-F730-185F55E3F22C}"/>
              </a:ext>
            </a:extLst>
          </p:cNvPr>
          <p:cNvCxnSpPr/>
          <p:nvPr/>
        </p:nvCxnSpPr>
        <p:spPr>
          <a:xfrm>
            <a:off x="8128000" y="6223000"/>
            <a:ext cx="0" cy="762000"/>
          </a:xfrm>
          <a:prstGeom prst="line">
            <a:avLst/>
          </a:prstGeom>
          <a:ln w="22225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138635-1238-F5EF-94D8-5D3D9EB56D77}"/>
              </a:ext>
            </a:extLst>
          </p:cNvPr>
          <p:cNvCxnSpPr/>
          <p:nvPr/>
        </p:nvCxnSpPr>
        <p:spPr>
          <a:xfrm>
            <a:off x="8128000" y="7594600"/>
            <a:ext cx="0" cy="787400"/>
          </a:xfrm>
          <a:prstGeom prst="line">
            <a:avLst/>
          </a:prstGeom>
          <a:ln w="22225">
            <a:solidFill>
              <a:srgbClr val="9999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087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Yanxiang Du</dc:creator>
  <cp:lastModifiedBy>Yanxiang Du</cp:lastModifiedBy>
  <cp:revision>1</cp:revision>
  <dcterms:created xsi:type="dcterms:W3CDTF">2026-05-04T23:58:39Z</dcterms:created>
  <dcterms:modified xsi:type="dcterms:W3CDTF">2026-05-04T23:58:39Z</dcterms:modified>
</cp:coreProperties>
</file>