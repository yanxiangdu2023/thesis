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0972800" cy="73152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8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A9AED-C401-0F13-34EF-BCBE0B9CE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197187"/>
            <a:ext cx="8229600" cy="2546773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08440-3614-F60C-59AB-AF830CC7A3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42174"/>
            <a:ext cx="8229600" cy="1766146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E247D-CC5F-CB30-8F0E-3EB5DF746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D7AF-7D8E-4CF0-90FA-C08A464FE6B4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F361A-8490-5D54-E53C-A7241075F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EDF9D-A71E-8821-CACD-0379E4B4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C572-0A53-4C85-B16F-793041243A5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5958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DB98-88D5-003B-CEAE-7DC10F54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6DAF-59B3-3AE3-EE13-3C32825BF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AA9E7-1518-02F4-376F-7D1A0908B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D7AF-7D8E-4CF0-90FA-C08A464FE6B4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113E1-0895-D46F-5AC5-C2DB4706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78CFC-0901-0302-2BD5-9E526655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C572-0A53-4C85-B16F-793041243A5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47867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FC27A-5F7F-C010-F9BB-7998779C9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665" y="1823722"/>
            <a:ext cx="9464040" cy="3042919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9E882-9EAF-C7FA-B7E6-03A4BC370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665" y="4895429"/>
            <a:ext cx="9464040" cy="1600199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90143-ED4E-06F2-564B-48C5A0DA2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D7AF-7D8E-4CF0-90FA-C08A464FE6B4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9F6E-5E8E-4B88-56E3-352DBBF77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E09C7-108F-9AEA-3BB5-90BD4BE3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C572-0A53-4C85-B16F-793041243A5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8508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F649D-0516-D75E-9CEF-1D4ADA4D5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FD9AA-A333-CE81-DAB6-8A00669D9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380" y="1947333"/>
            <a:ext cx="46634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EB972-6FD9-3C3D-0C8C-B89D13CE0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54980" y="1947333"/>
            <a:ext cx="46634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2AF6F-F274-75AA-4A06-D8728503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D7AF-7D8E-4CF0-90FA-C08A464FE6B4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64802-22BC-1601-7E2D-CB3C193EC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39EAB-074B-CA3D-308A-178DD7FCE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C572-0A53-4C85-B16F-793041243A5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2798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78DEF-7583-1F73-5FD7-36F0B30F0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09" y="389468"/>
            <a:ext cx="946404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292C6-69CD-85D9-41A8-7DD9A2C46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810" y="1793241"/>
            <a:ext cx="4642008" cy="878839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3FEA9-8BEA-E367-97C8-CBDBD66CB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810" y="2672080"/>
            <a:ext cx="4642008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66F996-B508-CEFD-4E4D-BBCE272AE7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4981" y="1793241"/>
            <a:ext cx="4664869" cy="878839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22D9E-B8C6-E5C1-AEB1-701342A24A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4981" y="2672080"/>
            <a:ext cx="4664869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F4079-569D-86F1-910B-04E4CF86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D7AF-7D8E-4CF0-90FA-C08A464FE6B4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13B86A-0656-40CD-2438-2EA1C262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852061-3824-949F-3B8E-E1560EF2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C572-0A53-4C85-B16F-793041243A5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96981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04521-AC1B-F8D9-5183-9DDE6CE54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780511-49FA-FFC5-D883-785AC52AB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D7AF-7D8E-4CF0-90FA-C08A464FE6B4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24C21-9E92-C33E-EB4B-1973280F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C5F86-9D05-85ED-2B50-03D8E804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C572-0A53-4C85-B16F-793041243A5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82452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D13809-B3AE-5918-4A1D-DBE8BA000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D7AF-7D8E-4CF0-90FA-C08A464FE6B4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9E89A7-E6D6-5F45-6D05-A97BD27C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690C4-EE87-3D26-7EB7-92A514CBD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C572-0A53-4C85-B16F-793041243A5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27193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1F46D-79E5-1CFC-8BC3-9D4191248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11" y="487680"/>
            <a:ext cx="3539013" cy="170688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BB07D-4764-29AA-C2C2-C5830AC40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869" y="1053255"/>
            <a:ext cx="5554980" cy="519853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33636-0CB2-6989-1943-FEFA8CC12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811" y="2194560"/>
            <a:ext cx="3539013" cy="4065694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3B457-5E36-E055-5F04-A3748BA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D7AF-7D8E-4CF0-90FA-C08A464FE6B4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18243-99FE-401C-390F-F84B288C6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9B8CC-4E9F-428B-3B05-A8CB1F75F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C572-0A53-4C85-B16F-793041243A5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26312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942C-411D-7005-9B0A-1790CD7F8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11" y="487680"/>
            <a:ext cx="3539013" cy="170688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55959-7195-B94A-6559-BC75CCD34F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64869" y="1053255"/>
            <a:ext cx="5554980" cy="5198533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95D88-3C30-3228-468F-802990FB9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811" y="2194560"/>
            <a:ext cx="3539013" cy="4065694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A35B1-EFE4-1CD8-0D8D-5B88EFF9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D7AF-7D8E-4CF0-90FA-C08A464FE6B4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8BE83-8196-441F-0248-70B633DB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ED975-563E-0649-F247-8AC4302A6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C572-0A53-4C85-B16F-793041243A5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5937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64857-3066-1FB7-92EB-95490118A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044D7-5EB2-0264-9B8F-D56C25072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63A46-CAB5-FD5D-74BA-23439681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D7AF-7D8E-4CF0-90FA-C08A464FE6B4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31B4E-BBA0-0965-8720-3AE807286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D55A4-72F8-367A-A9F9-DB1C05E95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C572-0A53-4C85-B16F-793041243A5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89578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E51E3B-E960-2A68-BBED-ADE7FE1731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52410" y="389467"/>
            <a:ext cx="236601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0AEDC-48E8-ACF3-0692-F8543499B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4380" y="389467"/>
            <a:ext cx="696087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ADE33-2F3D-3585-B5A8-00C28C1D6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D7AF-7D8E-4CF0-90FA-C08A464FE6B4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8512C-3AF0-BDA7-D4E2-66B5C55E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C11B9-450A-DFD1-6C66-07E8D255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C572-0A53-4C85-B16F-793041243A5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3882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E76AC6-C169-BCA5-7FDF-AB31E3BFB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389468"/>
            <a:ext cx="946404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0CC7-0A95-007F-7280-5DEBEFF10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380" y="1947333"/>
            <a:ext cx="946404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F5D63-742E-09DF-EAB7-468651FDF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4380" y="6780108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51D7AF-7D8E-4CF0-90FA-C08A464FE6B4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30B69-F15B-3F2A-CC64-4BFC62480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4740" y="6780108"/>
            <a:ext cx="37033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AEE0B-336F-6B4B-DD32-74D7EA560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49540" y="6780108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1C572-0A53-4C85-B16F-793041243A5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7072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179BF8-BB3D-993C-7A83-BA5A98293554}"/>
              </a:ext>
            </a:extLst>
          </p:cNvPr>
          <p:cNvSpPr txBox="1"/>
          <p:nvPr/>
        </p:nvSpPr>
        <p:spPr>
          <a:xfrm>
            <a:off x="254000" y="101600"/>
            <a:ext cx="104648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200" b="1">
                <a:solidFill>
                  <a:srgbClr val="1E1E1E"/>
                </a:solidFill>
              </a:rPr>
              <a:t>TMC Web System - Full Functional Architecture</a:t>
            </a:r>
            <a:endParaRPr lang="sv-SE" sz="2200" b="1">
              <a:solidFill>
                <a:srgbClr val="1E1E1E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E859EC-2ED9-1C07-DB15-7BF28F826268}"/>
              </a:ext>
            </a:extLst>
          </p:cNvPr>
          <p:cNvSpPr/>
          <p:nvPr/>
        </p:nvSpPr>
        <p:spPr>
          <a:xfrm>
            <a:off x="254000" y="558800"/>
            <a:ext cx="10464800" cy="330200"/>
          </a:xfrm>
          <a:prstGeom prst="rect">
            <a:avLst/>
          </a:prstGeom>
          <a:solidFill>
            <a:srgbClr val="E8E8E8"/>
          </a:solidFill>
          <a:ln>
            <a:solidFill>
              <a:srgbClr val="ADAD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fr-FR" sz="1200" b="1">
                <a:solidFill>
                  <a:srgbClr val="333333"/>
                </a:solidFill>
              </a:rPr>
              <a:t>Layer 1: User Navigation &amp; Pages</a:t>
            </a:r>
            <a:endParaRPr lang="sv-SE" sz="1200" b="1">
              <a:solidFill>
                <a:srgbClr val="333333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5D8926-C8DB-8560-4C72-4ED25B5B564F}"/>
              </a:ext>
            </a:extLst>
          </p:cNvPr>
          <p:cNvSpPr/>
          <p:nvPr/>
        </p:nvSpPr>
        <p:spPr>
          <a:xfrm>
            <a:off x="355600" y="939800"/>
            <a:ext cx="33020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r>
              <a:rPr lang="sv-SE" sz="900">
                <a:solidFill>
                  <a:srgbClr val="333333"/>
                </a:solidFill>
              </a:rPr>
              <a:t>Home
Master Data Maintenance &amp; Upload Entry
Submit Matrix
Upload OTH Data
Upload CRP Data
View Pipeline (P00/P10/A10/SPL/TMC/RES/RPT)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04286-6CE3-B74A-3079-56D6F1134CDD}"/>
              </a:ext>
            </a:extLst>
          </p:cNvPr>
          <p:cNvSpPr/>
          <p:nvPr/>
        </p:nvSpPr>
        <p:spPr>
          <a:xfrm>
            <a:off x="3784600" y="939800"/>
            <a:ext cx="38100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r>
              <a:rPr lang="sv-SE" sz="900">
                <a:solidFill>
                  <a:srgbClr val="333333"/>
                </a:solidFill>
              </a:rPr>
              <a:t>Submit Matrix
- Group Country CSV
- Reporter List CSV
- Source Matrix CSV
- Size Class Flag CSV
- Brand Mapping CSV
- Machine Line Mapping CSV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4DD673-F770-AB1D-A8E8-A22E61E081E2}"/>
              </a:ext>
            </a:extLst>
          </p:cNvPr>
          <p:cNvSpPr/>
          <p:nvPr/>
        </p:nvSpPr>
        <p:spPr>
          <a:xfrm>
            <a:off x="7721600" y="939800"/>
            <a:ext cx="2997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r>
              <a:rPr lang="en-US" sz="900" b="1">
                <a:solidFill>
                  <a:srgbClr val="333333"/>
                </a:solidFill>
              </a:rPr>
              <a:t>User Flow
Home -&gt; Submit Matrix -&gt; Upload OTH -&gt; Upload CRP -&gt; View Pipeline -&gt; P00</a:t>
            </a:r>
            <a:endParaRPr lang="sv-SE" sz="900" b="1">
              <a:solidFill>
                <a:srgbClr val="333333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18667F-B023-24AB-57FB-36E87B27BC32}"/>
              </a:ext>
            </a:extLst>
          </p:cNvPr>
          <p:cNvCxnSpPr/>
          <p:nvPr/>
        </p:nvCxnSpPr>
        <p:spPr>
          <a:xfrm>
            <a:off x="3657600" y="1625600"/>
            <a:ext cx="127000" cy="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230577-F3B6-90C0-8486-4D40B80214A4}"/>
              </a:ext>
            </a:extLst>
          </p:cNvPr>
          <p:cNvCxnSpPr/>
          <p:nvPr/>
        </p:nvCxnSpPr>
        <p:spPr>
          <a:xfrm>
            <a:off x="7594600" y="1625600"/>
            <a:ext cx="127000" cy="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42057E4-D630-E524-CF40-73B4E110345E}"/>
              </a:ext>
            </a:extLst>
          </p:cNvPr>
          <p:cNvSpPr/>
          <p:nvPr/>
        </p:nvSpPr>
        <p:spPr>
          <a:xfrm>
            <a:off x="254000" y="2438400"/>
            <a:ext cx="10464800" cy="330200"/>
          </a:xfrm>
          <a:prstGeom prst="rect">
            <a:avLst/>
          </a:prstGeom>
          <a:solidFill>
            <a:srgbClr val="E8E8E8"/>
          </a:solidFill>
          <a:ln>
            <a:solidFill>
              <a:srgbClr val="ADAD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b="1">
                <a:solidFill>
                  <a:srgbClr val="333333"/>
                </a:solidFill>
              </a:rPr>
              <a:t>Layer 2: Feature Actions (UI Capabilities)</a:t>
            </a:r>
            <a:endParaRPr lang="sv-SE" sz="1200" b="1">
              <a:solidFill>
                <a:srgbClr val="333333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68BBAA-0A0A-D028-4E5C-D4C6179E06F4}"/>
              </a:ext>
            </a:extLst>
          </p:cNvPr>
          <p:cNvSpPr/>
          <p:nvPr/>
        </p:nvSpPr>
        <p:spPr>
          <a:xfrm>
            <a:off x="355600" y="2819400"/>
            <a:ext cx="10363200" cy="584200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sv-SE" sz="900">
                <a:solidFill>
                  <a:srgbClr val="333333"/>
                </a:solidFill>
              </a:rPr>
              <a:t>Upload  |  Show Latest  |  Download Latest  |  Edit in Page (where enabled)  |  Table Filters (All)  |  Run Report  |  Show Latest Report  |  Run Tracking Timestamp  |  Status/Error Messaging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FC7531-A419-15C3-A99C-EE0662F1A4AE}"/>
              </a:ext>
            </a:extLst>
          </p:cNvPr>
          <p:cNvSpPr/>
          <p:nvPr/>
        </p:nvSpPr>
        <p:spPr>
          <a:xfrm>
            <a:off x="254000" y="3479800"/>
            <a:ext cx="10464800" cy="330200"/>
          </a:xfrm>
          <a:prstGeom prst="rect">
            <a:avLst/>
          </a:prstGeom>
          <a:solidFill>
            <a:srgbClr val="E8E8E8"/>
          </a:solidFill>
          <a:ln>
            <a:solidFill>
              <a:srgbClr val="ADAD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b="1">
                <a:solidFill>
                  <a:srgbClr val="333333"/>
                </a:solidFill>
              </a:rPr>
              <a:t>Layer 3: Processing &amp; Rule Engine (Backend Services)</a:t>
            </a:r>
            <a:endParaRPr lang="sv-SE" sz="1200" b="1">
              <a:solidFill>
                <a:srgbClr val="333333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AE0007-ADFE-7BD9-6740-B41BF33A210F}"/>
              </a:ext>
            </a:extLst>
          </p:cNvPr>
          <p:cNvSpPr/>
          <p:nvPr/>
        </p:nvSpPr>
        <p:spPr>
          <a:xfrm>
            <a:off x="355600" y="3860800"/>
            <a:ext cx="1968500" cy="1320800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r>
              <a:rPr lang="en-US" sz="800" b="1">
                <a:solidFill>
                  <a:srgbClr val="333333"/>
                </a:solidFill>
              </a:rPr>
              <a:t>Upload Service
- CSV parsing
- Header normalization
- Column validation
- Row persistence</a:t>
            </a:r>
            <a:endParaRPr lang="sv-SE" sz="800" b="1">
              <a:solidFill>
                <a:srgbClr val="333333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D512B4-E87E-C024-DAD8-AFCFC8FB737E}"/>
              </a:ext>
            </a:extLst>
          </p:cNvPr>
          <p:cNvSpPr/>
          <p:nvPr/>
        </p:nvSpPr>
        <p:spPr>
          <a:xfrm>
            <a:off x="2463800" y="3860800"/>
            <a:ext cx="1968500" cy="1320800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r>
              <a:rPr lang="en-US" sz="800" b="1">
                <a:solidFill>
                  <a:srgbClr val="333333"/>
                </a:solidFill>
              </a:rPr>
              <a:t>Matrix Resolver
- Country + artificial ML matching
- Brand/machine mapping</a:t>
            </a:r>
            <a:endParaRPr lang="sv-SE" sz="800" b="1">
              <a:solidFill>
                <a:srgbClr val="333333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0B66D4-4DBE-6050-FDD6-9BEECA3995A9}"/>
              </a:ext>
            </a:extLst>
          </p:cNvPr>
          <p:cNvSpPr/>
          <p:nvPr/>
        </p:nvSpPr>
        <p:spPr>
          <a:xfrm>
            <a:off x="4572000" y="3860800"/>
            <a:ext cx="1968500" cy="1320800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r>
              <a:rPr lang="sv-SE" sz="800" b="1">
                <a:solidFill>
                  <a:srgbClr val="333333"/>
                </a:solidFill>
              </a:rPr>
              <a:t>Rule Engine
- Reporter flag
- Deletion flag
- Pri/Sec tagging
- VCE/non-VCE related flags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331960-0A65-B7EE-025B-65E143E3F78E}"/>
              </a:ext>
            </a:extLst>
          </p:cNvPr>
          <p:cNvSpPr/>
          <p:nvPr/>
        </p:nvSpPr>
        <p:spPr>
          <a:xfrm>
            <a:off x="6680200" y="3860800"/>
            <a:ext cx="1968500" cy="1320800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r>
              <a:rPr lang="en-US" sz="800" b="1">
                <a:solidFill>
                  <a:srgbClr val="333333"/>
                </a:solidFill>
              </a:rPr>
              <a:t>Report Builders
- CRP D1 Combined
- OTH Deletion Flag
- P00 3-Check
- Layer snapshots</a:t>
            </a:r>
            <a:endParaRPr lang="sv-SE" sz="800" b="1">
              <a:solidFill>
                <a:srgbClr val="333333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3E7DB6-0B6C-AA34-5079-8F3B9EA8DD5C}"/>
              </a:ext>
            </a:extLst>
          </p:cNvPr>
          <p:cNvSpPr/>
          <p:nvPr/>
        </p:nvSpPr>
        <p:spPr>
          <a:xfrm>
            <a:off x="8788400" y="3860800"/>
            <a:ext cx="1930400" cy="1320800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r>
              <a:rPr lang="en-US" sz="800" b="1">
                <a:solidFill>
                  <a:srgbClr val="333333"/>
                </a:solidFill>
              </a:rPr>
              <a:t>Versioning Engine
- New upload run per CSV
- Latest successful run
- Run metadata tracking</a:t>
            </a:r>
            <a:endParaRPr lang="sv-SE" sz="800" b="1">
              <a:solidFill>
                <a:srgbClr val="333333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D3BF01-AEA3-78D5-6DBE-452F37B47D00}"/>
              </a:ext>
            </a:extLst>
          </p:cNvPr>
          <p:cNvSpPr/>
          <p:nvPr/>
        </p:nvSpPr>
        <p:spPr>
          <a:xfrm>
            <a:off x="254000" y="5257800"/>
            <a:ext cx="10464800" cy="330200"/>
          </a:xfrm>
          <a:prstGeom prst="rect">
            <a:avLst/>
          </a:prstGeom>
          <a:solidFill>
            <a:srgbClr val="E8E8E8"/>
          </a:solidFill>
          <a:ln>
            <a:solidFill>
              <a:srgbClr val="ADAD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sv-SE" sz="1200" b="1">
                <a:solidFill>
                  <a:srgbClr val="333333"/>
                </a:solidFill>
              </a:rPr>
              <a:t>Layer 4: Pipeline Calculations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147800-A80F-4578-8FE1-9BF5251000FB}"/>
              </a:ext>
            </a:extLst>
          </p:cNvPr>
          <p:cNvSpPr/>
          <p:nvPr/>
        </p:nvSpPr>
        <p:spPr>
          <a:xfrm>
            <a:off x="355600" y="5638800"/>
            <a:ext cx="103632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900" b="1">
                <a:solidFill>
                  <a:srgbClr val="333333"/>
                </a:solidFill>
              </a:rPr>
              <a:t>P00 Raw Preparation  -&gt;  P10 Prepared Output  -&gt;  A10 Adjustment Build  -&gt;  SPL Machine Line Split  -&gt;  TMC Total Market Calculation  -&gt;  RES Restatement  -&gt;  RPT Reporting</a:t>
            </a:r>
            <a:endParaRPr lang="sv-SE" sz="900" b="1">
              <a:solidFill>
                <a:srgbClr val="333333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5DB3B3-E0AA-7686-FD1D-A0F98E098C25}"/>
              </a:ext>
            </a:extLst>
          </p:cNvPr>
          <p:cNvSpPr/>
          <p:nvPr/>
        </p:nvSpPr>
        <p:spPr>
          <a:xfrm>
            <a:off x="355600" y="6273800"/>
            <a:ext cx="6604000" cy="4318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r>
              <a:rPr lang="sv-SE" sz="800">
                <a:solidFill>
                  <a:srgbClr val="333333"/>
                </a:solidFill>
              </a:rPr>
              <a:t>P00 focus: SAL deletion logic, OTH reporter/deletion logic, Source Matrix validation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B5BC5C-0DBF-650F-6298-B33C65F82D1B}"/>
              </a:ext>
            </a:extLst>
          </p:cNvPr>
          <p:cNvSpPr/>
          <p:nvPr/>
        </p:nvSpPr>
        <p:spPr>
          <a:xfrm>
            <a:off x="7086600" y="6273800"/>
            <a:ext cx="3632200" cy="4318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r>
              <a:rPr lang="en-US" sz="800">
                <a:solidFill>
                  <a:srgbClr val="333333"/>
                </a:solidFill>
              </a:rPr>
              <a:t>TMC focus: eligible row selection and case-handling workflow</a:t>
            </a:r>
            <a:endParaRPr lang="sv-SE" sz="800">
              <a:solidFill>
                <a:srgbClr val="333333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E801AB-F0BD-7AAD-2E9F-8D3150AA1968}"/>
              </a:ext>
            </a:extLst>
          </p:cNvPr>
          <p:cNvSpPr/>
          <p:nvPr/>
        </p:nvSpPr>
        <p:spPr>
          <a:xfrm>
            <a:off x="254000" y="6756400"/>
            <a:ext cx="10464800" cy="330200"/>
          </a:xfrm>
          <a:prstGeom prst="rect">
            <a:avLst/>
          </a:prstGeom>
          <a:solidFill>
            <a:srgbClr val="E8E8E8"/>
          </a:solidFill>
          <a:ln>
            <a:solidFill>
              <a:srgbClr val="ADAD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sv-SE" sz="1200" b="1">
                <a:solidFill>
                  <a:srgbClr val="333333"/>
                </a:solidFill>
              </a:rPr>
              <a:t>Layer 5: Data Storage (Database)</a:t>
            </a:r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0290D8C1-9527-268B-6A9A-84800428BF77}"/>
              </a:ext>
            </a:extLst>
          </p:cNvPr>
          <p:cNvSpPr/>
          <p:nvPr/>
        </p:nvSpPr>
        <p:spPr>
          <a:xfrm>
            <a:off x="381000" y="7112000"/>
            <a:ext cx="1422400" cy="355600"/>
          </a:xfrm>
          <a:prstGeom prst="can">
            <a:avLst/>
          </a:prstGeom>
          <a:solidFill>
            <a:srgbClr val="FFFFFF"/>
          </a:solidFill>
          <a:ln>
            <a:solidFill>
              <a:srgbClr val="99AA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">
                <a:solidFill>
                  <a:srgbClr val="333333"/>
                </a:solidFill>
              </a:rPr>
              <a:t>upload_runs</a:t>
            </a:r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8CFC1DE0-54B2-8332-FF0C-EBF8B3469733}"/>
              </a:ext>
            </a:extLst>
          </p:cNvPr>
          <p:cNvSpPr/>
          <p:nvPr/>
        </p:nvSpPr>
        <p:spPr>
          <a:xfrm>
            <a:off x="1879600" y="7112000"/>
            <a:ext cx="1524000" cy="355600"/>
          </a:xfrm>
          <a:prstGeom prst="can">
            <a:avLst/>
          </a:prstGeom>
          <a:solidFill>
            <a:srgbClr val="FFFFFF"/>
          </a:solidFill>
          <a:ln>
            <a:solidFill>
              <a:srgbClr val="99AA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">
                <a:solidFill>
                  <a:srgbClr val="333333"/>
                </a:solidFill>
              </a:rPr>
              <a:t>group_country_rows</a:t>
            </a: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1CC48056-58AB-B68E-E2CA-50C78D40DEB3}"/>
              </a:ext>
            </a:extLst>
          </p:cNvPr>
          <p:cNvSpPr/>
          <p:nvPr/>
        </p:nvSpPr>
        <p:spPr>
          <a:xfrm>
            <a:off x="3479800" y="7112000"/>
            <a:ext cx="1524000" cy="355600"/>
          </a:xfrm>
          <a:prstGeom prst="can">
            <a:avLst/>
          </a:prstGeom>
          <a:solidFill>
            <a:srgbClr val="FFFFFF"/>
          </a:solidFill>
          <a:ln>
            <a:solidFill>
              <a:srgbClr val="99AA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">
                <a:solidFill>
                  <a:srgbClr val="333333"/>
                </a:solidFill>
              </a:rPr>
              <a:t>reporter_list_rows</a:t>
            </a:r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2CED6417-4A63-8A0C-7D35-C1852B7CFB42}"/>
              </a:ext>
            </a:extLst>
          </p:cNvPr>
          <p:cNvSpPr/>
          <p:nvPr/>
        </p:nvSpPr>
        <p:spPr>
          <a:xfrm>
            <a:off x="5080000" y="7112000"/>
            <a:ext cx="1524000" cy="355600"/>
          </a:xfrm>
          <a:prstGeom prst="can">
            <a:avLst/>
          </a:prstGeom>
          <a:solidFill>
            <a:srgbClr val="FFFFFF"/>
          </a:solidFill>
          <a:ln>
            <a:solidFill>
              <a:srgbClr val="99AA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">
                <a:solidFill>
                  <a:srgbClr val="333333"/>
                </a:solidFill>
              </a:rPr>
              <a:t>source_matrix_rows</a:t>
            </a:r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DDE71DCD-B718-5D79-8466-AA1F078D2D8F}"/>
              </a:ext>
            </a:extLst>
          </p:cNvPr>
          <p:cNvSpPr/>
          <p:nvPr/>
        </p:nvSpPr>
        <p:spPr>
          <a:xfrm>
            <a:off x="6680200" y="7112000"/>
            <a:ext cx="1346200" cy="355600"/>
          </a:xfrm>
          <a:prstGeom prst="can">
            <a:avLst/>
          </a:prstGeom>
          <a:solidFill>
            <a:srgbClr val="FFFFFF"/>
          </a:solidFill>
          <a:ln>
            <a:solidFill>
              <a:srgbClr val="99AA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">
                <a:solidFill>
                  <a:srgbClr val="333333"/>
                </a:solidFill>
              </a:rPr>
              <a:t>size_class_rows</a:t>
            </a:r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9104478F-865C-339F-AA0F-656E26063336}"/>
              </a:ext>
            </a:extLst>
          </p:cNvPr>
          <p:cNvSpPr/>
          <p:nvPr/>
        </p:nvSpPr>
        <p:spPr>
          <a:xfrm>
            <a:off x="8102600" y="7112000"/>
            <a:ext cx="1295400" cy="355600"/>
          </a:xfrm>
          <a:prstGeom prst="can">
            <a:avLst/>
          </a:prstGeom>
          <a:solidFill>
            <a:srgbClr val="FFFFFF"/>
          </a:solidFill>
          <a:ln>
            <a:solidFill>
              <a:srgbClr val="99AA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">
                <a:solidFill>
                  <a:srgbClr val="333333"/>
                </a:solidFill>
              </a:rPr>
              <a:t>brand_mapping_rows</a:t>
            </a:r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4DD83D19-1B36-62BA-0DE6-3A49CE24FD51}"/>
              </a:ext>
            </a:extLst>
          </p:cNvPr>
          <p:cNvSpPr/>
          <p:nvPr/>
        </p:nvSpPr>
        <p:spPr>
          <a:xfrm>
            <a:off x="9474200" y="7112000"/>
            <a:ext cx="1397000" cy="355600"/>
          </a:xfrm>
          <a:prstGeom prst="can">
            <a:avLst/>
          </a:prstGeom>
          <a:solidFill>
            <a:srgbClr val="FFFFFF"/>
          </a:solidFill>
          <a:ln>
            <a:solidFill>
              <a:srgbClr val="99AA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">
                <a:solidFill>
                  <a:srgbClr val="333333"/>
                </a:solidFill>
              </a:rPr>
              <a:t>machine_line_mapping_rows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0A2FBC-2FEF-6EAB-ED40-B92E2FC7B682}"/>
              </a:ext>
            </a:extLst>
          </p:cNvPr>
          <p:cNvCxnSpPr/>
          <p:nvPr/>
        </p:nvCxnSpPr>
        <p:spPr>
          <a:xfrm>
            <a:off x="5537200" y="2311400"/>
            <a:ext cx="0" cy="50800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8D230A-CA14-ACB4-A697-3C5869789E3F}"/>
              </a:ext>
            </a:extLst>
          </p:cNvPr>
          <p:cNvCxnSpPr/>
          <p:nvPr/>
        </p:nvCxnSpPr>
        <p:spPr>
          <a:xfrm>
            <a:off x="5537200" y="3403600"/>
            <a:ext cx="0" cy="45720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4E21C77-FB18-E3F2-9CDD-B89A841DBA73}"/>
              </a:ext>
            </a:extLst>
          </p:cNvPr>
          <p:cNvCxnSpPr/>
          <p:nvPr/>
        </p:nvCxnSpPr>
        <p:spPr>
          <a:xfrm>
            <a:off x="5537200" y="5181600"/>
            <a:ext cx="0" cy="45720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1BC078C-6215-DCA6-9BB2-E9CD13527B31}"/>
              </a:ext>
            </a:extLst>
          </p:cNvPr>
          <p:cNvCxnSpPr/>
          <p:nvPr/>
        </p:nvCxnSpPr>
        <p:spPr>
          <a:xfrm>
            <a:off x="5537200" y="6248400"/>
            <a:ext cx="0" cy="86360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0F6FC45-288E-5349-0A04-9FA266BE3933}"/>
              </a:ext>
            </a:extLst>
          </p:cNvPr>
          <p:cNvSpPr txBox="1"/>
          <p:nvPr/>
        </p:nvSpPr>
        <p:spPr>
          <a:xfrm>
            <a:off x="254000" y="7264400"/>
            <a:ext cx="104648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666666"/>
                </a:solidFill>
              </a:rPr>
              <a:t>Scope: current web implementation (new system), replacing legacy SAP-heavy architecture for operational documentation.</a:t>
            </a:r>
            <a:endParaRPr lang="sv-SE" sz="800">
              <a:solidFill>
                <a:srgbClr val="66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879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99EA60-82D2-C93C-F59F-8B06641E01A5}"/>
              </a:ext>
            </a:extLst>
          </p:cNvPr>
          <p:cNvSpPr txBox="1"/>
          <p:nvPr/>
        </p:nvSpPr>
        <p:spPr>
          <a:xfrm>
            <a:off x="254000" y="101600"/>
            <a:ext cx="10464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sv-SE" sz="1600" b="1"/>
              <a:t>Reference Image (for comparison)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272DBD-A21B-67B9-04C0-382FAA173B9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508000"/>
            <a:ext cx="10160000" cy="676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15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9540963-e559-4020-8a90-fe8a502c2801}" enabled="1" method="Standard" siteId="{f25493ae-1c98-41d7-8a33-0be75f5fe6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</Words>
  <Application>Microsoft Office PowerPoint</Application>
  <PresentationFormat>Custom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Yanxiang Du</dc:creator>
  <cp:lastModifiedBy>Yanxiang Du</cp:lastModifiedBy>
  <cp:revision>1</cp:revision>
  <dcterms:created xsi:type="dcterms:W3CDTF">2026-05-05T00:06:15Z</dcterms:created>
  <dcterms:modified xsi:type="dcterms:W3CDTF">2026-05-05T00:06:15Z</dcterms:modified>
</cp:coreProperties>
</file>